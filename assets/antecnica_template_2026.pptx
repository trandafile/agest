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CC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6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CH1</c:v>
                </c:pt>
              </c:strCache>
            </c:strRef>
          </c:tx>
          <c:spPr>
            <a:ln w="25400" cap="flat">
              <a:solidFill>
                <a:srgbClr val="66CCF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26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14.8</c:v>
                </c:pt>
                <c:pt idx="1">
                  <c:v>16.600000000000001</c:v>
                </c:pt>
                <c:pt idx="2">
                  <c:v>17.600000000000001</c:v>
                </c:pt>
                <c:pt idx="3">
                  <c:v>18</c:v>
                </c:pt>
                <c:pt idx="4">
                  <c:v>17.600000000000001</c:v>
                </c:pt>
                <c:pt idx="5">
                  <c:v>16.600000000000001</c:v>
                </c:pt>
                <c:pt idx="6">
                  <c:v>14.8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91-4ABE-B65C-C933DABE1E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CH2</c:v>
                </c:pt>
              </c:strCache>
            </c:strRef>
          </c:tx>
          <c:spPr>
            <a:ln w="25400" cap="flat">
              <a:solidFill>
                <a:srgbClr val="2E8FC0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26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15.2</c:v>
                </c:pt>
                <c:pt idx="1">
                  <c:v>17</c:v>
                </c:pt>
                <c:pt idx="2">
                  <c:v>18</c:v>
                </c:pt>
                <c:pt idx="3">
                  <c:v>18.399999999999999</c:v>
                </c:pt>
                <c:pt idx="4">
                  <c:v>18</c:v>
                </c:pt>
                <c:pt idx="5">
                  <c:v>17</c:v>
                </c:pt>
                <c:pt idx="6">
                  <c:v>15.2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91-4ABE-B65C-C933DABE1E1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CH3</c:v>
                </c:pt>
              </c:strCache>
            </c:strRef>
          </c:tx>
          <c:spPr>
            <a:ln w="25400" cap="flat">
              <a:solidFill>
                <a:srgbClr val="8AD8FF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26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14.5</c:v>
                </c:pt>
                <c:pt idx="1">
                  <c:v>16.3</c:v>
                </c:pt>
                <c:pt idx="2">
                  <c:v>17.3</c:v>
                </c:pt>
                <c:pt idx="3">
                  <c:v>17.7</c:v>
                </c:pt>
                <c:pt idx="4">
                  <c:v>17.3</c:v>
                </c:pt>
                <c:pt idx="5">
                  <c:v>16.3</c:v>
                </c:pt>
                <c:pt idx="6">
                  <c:v>14.5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91-4ABE-B65C-C933DABE1E1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CH4</c:v>
                </c:pt>
              </c:strCache>
            </c:strRef>
          </c:tx>
          <c:spPr>
            <a:ln w="25400" cap="flat">
              <a:solidFill>
                <a:srgbClr val="9BABB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Sheet1!$A$2:$A$8</c:f>
              <c:strCache>
                <c:ptCount val="7"/>
                <c:pt idx="0">
                  <c:v>26</c:v>
                </c:pt>
                <c:pt idx="1">
                  <c:v>27</c:v>
                </c:pt>
                <c:pt idx="2">
                  <c:v>28</c:v>
                </c:pt>
                <c:pt idx="3">
                  <c:v>29</c:v>
                </c:pt>
                <c:pt idx="4">
                  <c:v>30</c:v>
                </c:pt>
                <c:pt idx="5">
                  <c:v>31</c:v>
                </c:pt>
                <c:pt idx="6">
                  <c:v>32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15</c:v>
                </c:pt>
                <c:pt idx="1">
                  <c:v>16.8</c:v>
                </c:pt>
                <c:pt idx="2">
                  <c:v>17.8</c:v>
                </c:pt>
                <c:pt idx="3">
                  <c:v>18.2</c:v>
                </c:pt>
                <c:pt idx="4">
                  <c:v>17.8</c:v>
                </c:pt>
                <c:pt idx="5">
                  <c:v>16.8</c:v>
                </c:pt>
                <c:pt idx="6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A91-4ABE-B65C-C933DABE1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BABBA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9BABBA"/>
                    </a:solidFill>
                    <a:latin typeface="Arial"/>
                  </a:rPr>
                  <a:t>Frequency (GHz)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ABB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10"/>
        </c:scaling>
        <c:delete val="0"/>
        <c:axPos val="l"/>
        <c:majorGridlines>
          <c:spPr>
            <a:ln w="6350" cap="flat">
              <a:solidFill>
                <a:srgbClr val="2C3D4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BABBA"/>
                    </a:solidFill>
                    <a:latin typeface="Arial"/>
                  </a:defRPr>
                </a:pPr>
                <a:r>
                  <a:rPr lang="it-IT" sz="1100" b="0" i="0" u="none" strike="noStrike">
                    <a:solidFill>
                      <a:srgbClr val="9BABBA"/>
                    </a:solidFill>
                    <a:latin typeface="Arial"/>
                  </a:rPr>
                  <a:t>Gain (dB)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BABB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BABB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21451-1387-4CA6-816F-3879F97B5CB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4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35240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5240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35240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635240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635240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635240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5240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5240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635240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635240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635240" y="456285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5240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5240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635240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89127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9127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91271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891271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89127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891271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89127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9127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89127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891271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89127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89127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89127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891271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89127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9127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891271" y="533095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14730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14730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4730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47303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147303" y="277063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14730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14730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14730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147303" y="379476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147303" y="405079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147303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147303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147303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147303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403335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40333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40333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403335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40333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403335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403335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403335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403335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40333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8403335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403335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403335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65936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659367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65936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65936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65936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59367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8659367" y="302666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8659367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8659367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59367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659367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659367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8659367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659367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65936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65936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891539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8915399" y="149047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915399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915399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891539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8915399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8915399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8915399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8915399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8915399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915399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891539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891539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891539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891539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91539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917143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917143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9171431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17143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171431" y="251460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7143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17143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17143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17143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17143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17143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171431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17143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17143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171431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42746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9427463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42746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942746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9427463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942746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942746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942746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9427463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9427463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9427463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9683495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968349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968349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9683495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968349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9683495" y="251460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683495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9683495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9683495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9683495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9683495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968349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9683495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9683495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9683495" y="481888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9683495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9683495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9939527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993952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9939527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993952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993952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993952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9939527" y="277063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9939527" y="302666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9939527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9939527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9939527" y="481888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993952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993952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1019555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10195559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10195559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1019555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10195559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10195559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10195559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10195559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10195559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1019555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10195559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1019555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1019555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1019555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1019555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1045159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1045159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10451591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10451591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1045159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10451591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45159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45159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45159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0451591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045159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045159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1045159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1045159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1045159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10451591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1070762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10707623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1070762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1070762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10707623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10707623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10707623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1070762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1070762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1070762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10707623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10707623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10707623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10707623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10707623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10707623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10707623" y="533095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1096365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1096365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10963655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1096365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10963655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96365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963655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963655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963655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121968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1219687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121968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121968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21968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219687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19687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219687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219687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1121968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1121968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1147571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11475719" y="149047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11475719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11475719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1147571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11475719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1147571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1147571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1147571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1147571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1147571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Hexagon 227"/>
          <p:cNvSpPr/>
          <p:nvPr/>
        </p:nvSpPr>
        <p:spPr>
          <a:xfrm>
            <a:off x="11274552" y="2892978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Hexagon 228"/>
          <p:cNvSpPr/>
          <p:nvPr/>
        </p:nvSpPr>
        <p:spPr>
          <a:xfrm>
            <a:off x="11274552" y="3295314"/>
            <a:ext cx="310896" cy="270479"/>
          </a:xfrm>
          <a:prstGeom prst="hexagon">
            <a:avLst/>
          </a:prstGeom>
          <a:solidFill>
            <a:srgbClr val="66CC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Hexagon 229"/>
          <p:cNvSpPr/>
          <p:nvPr/>
        </p:nvSpPr>
        <p:spPr>
          <a:xfrm>
            <a:off x="11274552" y="3697650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Imag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"/>
            <a:ext cx="3291840" cy="47914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233172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della presentazione</a:t>
            </a: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Sottotitolo / contesto</a:t>
            </a: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512064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 · Evento · Data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548640" y="6080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1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mm-wave design house — from beamforming ICs to phased arrays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0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320040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320040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320040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20040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20040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20040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0040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320040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0040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76072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76072" y="149047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76072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6072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76072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76072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76072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76072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76072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76072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76072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76072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32104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32104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832104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32104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32104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32104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32104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32104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32104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32104" y="481888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32104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088136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088136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088136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88136" y="225856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88136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088136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088136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088136" y="328269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088136" y="353872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088136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88136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088136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088136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88136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088136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344168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344168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344168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344168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44168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344168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344168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344168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344168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344168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344168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344168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600200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600200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600200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600200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600200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600200" y="251460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600200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600200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600200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600200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600200" y="379476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600200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600200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600200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600200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600200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600200" y="533095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856232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856232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856232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856232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856232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856232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856232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856232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856232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856232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856232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856232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856232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856232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856232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1856232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2112264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2112264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2112264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2112264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2112264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112264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112264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2112264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2112264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2112264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2112264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2112264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2112264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2112264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2112264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Hexagon 109"/>
          <p:cNvSpPr/>
          <p:nvPr/>
        </p:nvSpPr>
        <p:spPr>
          <a:xfrm>
            <a:off x="576072" y="2892978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Hexagon 110"/>
          <p:cNvSpPr/>
          <p:nvPr/>
        </p:nvSpPr>
        <p:spPr>
          <a:xfrm>
            <a:off x="576072" y="3295314"/>
            <a:ext cx="310896" cy="270479"/>
          </a:xfrm>
          <a:prstGeom prst="hexagon">
            <a:avLst/>
          </a:prstGeom>
          <a:solidFill>
            <a:srgbClr val="66CC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Hexagon 111"/>
          <p:cNvSpPr/>
          <p:nvPr/>
        </p:nvSpPr>
        <p:spPr>
          <a:xfrm>
            <a:off x="576072" y="3697650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2834640" y="1920240"/>
            <a:ext cx="1828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2834640" y="306324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sezione</a:t>
            </a:r>
            <a:endParaRPr lang="en-US" sz="36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283464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descrizione</a:t>
            </a:r>
            <a:endParaRPr lang="en-US" sz="1600" dirty="0"/>
          </a:p>
        </p:txBody>
      </p:sp>
      <p:pic>
        <p:nvPicPr>
          <p:cNvPr id="6" name="Imag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17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slide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 algn="l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</a:t>
            </a:r>
            <a:endParaRPr lang="en-US" sz="1600" dirty="0"/>
          </a:p>
        </p:txBody>
      </p:sp>
      <p:pic>
        <p:nvPicPr>
          <p:cNvPr id="4" name="Image 0" descr="logo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_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slide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 algn="l"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sinistra</a:t>
            </a:r>
            <a:endParaRPr lang="en-US" sz="15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6291072" y="1371600"/>
            <a:ext cx="5349240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 algn="l"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Colonna destra</a:t>
            </a:r>
            <a:endParaRPr lang="en-US" sz="1500" dirty="0"/>
          </a:p>
        </p:txBody>
      </p:sp>
      <p:pic>
        <p:nvPicPr>
          <p:cNvPr id="5" name="Image 0" descr="logo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_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5760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slide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691640"/>
            <a:ext cx="5760720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 algn="l">
              <a:spcAft>
                <a:spcPts val="800"/>
              </a:spcAft>
              <a:buSzPct val="100000"/>
              <a:buChar char="•"/>
              <a:def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</a:t>
            </a:r>
            <a:endParaRPr lang="en-US" sz="1500" dirty="0"/>
          </a:p>
        </p:txBody>
      </p:sp>
      <p:sp>
        <p:nvSpPr>
          <p:cNvPr id="5" name="Text 1"/>
          <p:cNvSpPr>
            <a:spLocks noGrp="1"/>
          </p:cNvSpPr>
          <p:nvPr>
            <p:ph idx="103" hasCustomPrompt="1"/>
          </p:nvPr>
        </p:nvSpPr>
        <p:spPr>
          <a:xfrm>
            <a:off x="7223760" y="822960"/>
            <a:ext cx="4416552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Immagine</a:t>
            </a:r>
            <a:endParaRPr lang="en-US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223760" y="5669280"/>
            <a:ext cx="441655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000" i="1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000" i="1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Didascalia</a:t>
            </a:r>
            <a:endParaRPr lang="en-US" sz="1000" dirty="0"/>
          </a:p>
        </p:txBody>
      </p:sp>
      <p:pic>
        <p:nvPicPr>
          <p:cNvPr id="7" name="Image 0" descr="logo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slide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11094415" cy="4480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28600" indent="-228600" algn="l">
              <a:spcAft>
                <a:spcPts val="800"/>
              </a:spcAft>
              <a:buSzPct val="100000"/>
              <a:buChar char="•"/>
              <a:defRPr lang="en-US" sz="16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Contenuto</a:t>
            </a:r>
            <a:endParaRPr lang="en-US" sz="1600" dirty="0"/>
          </a:p>
        </p:txBody>
      </p:sp>
      <p:pic>
        <p:nvPicPr>
          <p:cNvPr id="4" name="Image 0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171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17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 slide</a:t>
            </a:r>
            <a:endParaRPr lang="en-US" sz="2800" dirty="0"/>
          </a:p>
        </p:txBody>
      </p:sp>
      <p:pic>
        <p:nvPicPr>
          <p:cNvPr id="3" name="Image 0" descr="logo_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1325880" cy="1929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03120" y="6382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 ·  www.antecnica.it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94415" y="638251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7635240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5240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35240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7635240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635240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635240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5240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635240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635240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635240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635240" y="456285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5240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5240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635240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89127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89127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891271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891271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89127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891271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89127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89127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89127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891271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89127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89127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89127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891271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89127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89127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891271" y="533095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14730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14730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14730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147303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147303" y="277063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14730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14730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14730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147303" y="379476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147303" y="405079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147303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147303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147303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147303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403335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840333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40333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403335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40333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403335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403335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403335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403335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840333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8403335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403335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403335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865936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659367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65936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65936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865936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59367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8659367" y="302666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8659367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8659367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59367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659367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659367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8659367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8659367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65936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65936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891539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8915399" y="149047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915399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915399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891539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8915399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8915399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8915399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8915399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8915399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915399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891539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891539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891539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891539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91539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917143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917143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9171431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17143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171431" y="251460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17143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17143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17143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17143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17143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917143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171431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17143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17143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171431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42746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9427463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42746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942746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9427463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942746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942746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942746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9427463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9427463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9427463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9683495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968349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968349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9683495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968349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9683495" y="2514600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9683495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9683495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9683495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9683495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9683495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968349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9683495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9683495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9683495" y="481888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9683495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9683495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9939527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993952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9939527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993952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993952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993952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9939527" y="277063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9939527" y="302666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9939527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9939527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9939527" y="4818888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993952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993952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1019555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10195559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10195559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1019555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10195559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10195559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10195559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10195559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10195559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1019555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10195559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1019555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1019555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1019555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1019555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10451591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10451591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10451591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10451591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10451591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10451591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451591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451591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451591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0451591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0451591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0451591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10451591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10451591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10451591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10451591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10707623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10707623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10707623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10707623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10707623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10707623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10707623" y="277063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10707623" y="302666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10707623" y="328269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10707623" y="353872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10707623" y="379476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10707623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10707623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10707623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10707623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10707623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10707623" y="533095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10963655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10963655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10963655" y="2002536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10963655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10963655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10963655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10963655" y="430682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10963655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10963655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11219687" y="149047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11219687" y="1746504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11219687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11219687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11219687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11219687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11219687" y="430682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11219687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11219687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11219687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11219687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11475719" y="123444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11475719" y="1490472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11475719" y="1746504"/>
            <a:ext cx="155448" cy="155448"/>
          </a:xfrm>
          <a:prstGeom prst="rect">
            <a:avLst/>
          </a:prstGeom>
          <a:solidFill>
            <a:srgbClr val="66CCFF">
              <a:alpha val="1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11475719" y="200253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11475719" y="225856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11475719" y="251460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11475719" y="405079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11475719" y="4562856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11475719" y="4818888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11475719" y="5074920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11475719" y="5330952"/>
            <a:ext cx="155448" cy="155448"/>
          </a:xfrm>
          <a:prstGeom prst="rect">
            <a:avLst/>
          </a:prstGeom>
          <a:solidFill>
            <a:srgbClr val="66CC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Hexagon 227"/>
          <p:cNvSpPr/>
          <p:nvPr/>
        </p:nvSpPr>
        <p:spPr>
          <a:xfrm>
            <a:off x="11274552" y="2892978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Hexagon 228"/>
          <p:cNvSpPr/>
          <p:nvPr/>
        </p:nvSpPr>
        <p:spPr>
          <a:xfrm>
            <a:off x="11274552" y="3295314"/>
            <a:ext cx="310896" cy="270479"/>
          </a:xfrm>
          <a:prstGeom prst="hexagon">
            <a:avLst/>
          </a:prstGeom>
          <a:solidFill>
            <a:srgbClr val="66CCFF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Hexagon 229"/>
          <p:cNvSpPr/>
          <p:nvPr/>
        </p:nvSpPr>
        <p:spPr>
          <a:xfrm>
            <a:off x="11274552" y="3697650"/>
            <a:ext cx="310896" cy="270479"/>
          </a:xfrm>
          <a:prstGeom prst="hexagon">
            <a:avLst/>
          </a:prstGeom>
          <a:solidFill>
            <a:srgbClr val="66CCFF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Image 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4023360" cy="585216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</a:t>
            </a:r>
            <a:endParaRPr lang="en-US" sz="2400" dirty="0"/>
          </a:p>
        </p:txBody>
      </p:sp>
      <p:sp>
        <p:nvSpPr>
          <p:cNvPr id="5" name="Text 0"/>
          <p:cNvSpPr/>
          <p:nvPr/>
        </p:nvSpPr>
        <p:spPr>
          <a:xfrm>
            <a:off x="548640" y="3931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ANTECNICA S.r.l. — UNICAL spin-off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S. Pertini 1 — Metropolis, 87036 Rende (CS), Italy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info@antecnica.it  ·  www.antecnica.it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17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23317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Ka-band beamforming IC for LEO user terminals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3" hasCustomPrompt="1"/>
          </p:nvPr>
        </p:nvSpPr>
        <p:spPr>
          <a:xfrm>
            <a:off x="54864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 · SiGe BiCMOS 130 nm</a:t>
            </a:r>
            <a:endParaRPr lang="en-US" sz="1800" dirty="0"/>
          </a:p>
        </p:txBody>
      </p:sp>
      <p:sp>
        <p:nvSpPr>
          <p:cNvPr id="4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5120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Boccia, E. Arnieri, G. Amendola · ESA project meeting · Rende, 3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2834640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66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2834640" y="3063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2834640" y="4206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9BAB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partitioning between silicon and antenna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17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objectives</a:t>
            </a: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Four-channel Tx/Rx beamformer, 27.5–31 GHz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6-bit phase and 5-bit gain control per channel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LNA with NF &lt; 3 dB across band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Antenna-in-package co-design with 2×2 sub-array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Tape-out planned Q4 2026 (MPW run)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vs. antenna: split of responsibilities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RFIC / MMIC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core, phase shifters, VGA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LNA / PA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control and calibration registers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137160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&amp; package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Stacked-patch elements, dual polarisation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Flip-chip interconnect and thermal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Array-level calibration strategy</a:t>
            </a:r>
            <a:endParaRPr lang="en-US" sz="15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6291072" y="1371600"/>
            <a:ext cx="53492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114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micrograph and layout</a:t>
            </a:r>
            <a:endParaRPr lang="en-US" sz="2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1691640"/>
            <a:ext cx="57607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size 3.8 × 3.0 mm²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identical channels with shared LO distribution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core in the centre to minimise routing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822960"/>
            <a:ext cx="4416552" cy="4754880"/>
          </a:xfrm>
          <a:prstGeom prst="rect">
            <a:avLst/>
          </a:prstGeom>
          <a:solidFill>
            <a:srgbClr val="E1E6EA"/>
          </a:solidFill>
          <a:ln w="9525">
            <a:solidFill>
              <a:srgbClr val="CBD3D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7223760" y="822960"/>
            <a:ext cx="4416552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Inserire 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(micrografia, layout, foto banco)</a:t>
            </a:r>
            <a:endParaRPr lang="en-US" sz="12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223760" y="566928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Beamformer IC, SiGe BiCMOS 130 nm</a:t>
            </a:r>
            <a:endParaRPr lang="en-US" sz="1000" dirty="0"/>
          </a:p>
        </p:txBody>
      </p:sp>
      <p:sp>
        <p:nvSpPr>
          <p:cNvPr id="7" name="Text 1"/>
          <p:cNvSpPr>
            <a:spLocks noGrp="1"/>
          </p:cNvSpPr>
          <p:nvPr>
            <p:ph idx="103" hasCustomPrompt="1"/>
          </p:nvPr>
        </p:nvSpPr>
        <p:spPr>
          <a:xfrm>
            <a:off x="7223760" y="822960"/>
            <a:ext cx="4416552" cy="4754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performance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635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dB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figure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mode, 27.5–31 GHz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635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3611880" y="19202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range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6-bit, RMS error &lt; 4°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635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 txBox="1"/>
          <p:nvPr/>
        </p:nvSpPr>
        <p:spPr>
          <a:xfrm>
            <a:off x="6400800" y="19202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dBm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P1dB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channel, Tx mode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6350">
            <a:solidFill>
              <a:srgbClr val="E1E6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 txBox="1"/>
          <p:nvPr/>
        </p:nvSpPr>
        <p:spPr>
          <a:xfrm>
            <a:off x="9189720" y="19202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E8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W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0175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power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4747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5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channels, Tx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45535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vs. frequency — four channels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11094415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37160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61717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B0F14"/>
      </a:dk2>
      <a:lt2>
        <a:srgbClr val="F4F6F8"/>
      </a:lt2>
      <a:accent1>
        <a:srgbClr val="2E8FC0"/>
      </a:accent1>
      <a:accent2>
        <a:srgbClr val="0B0F14"/>
      </a:accent2>
      <a:accent3>
        <a:srgbClr val="66CCFF"/>
      </a:accent3>
      <a:accent4>
        <a:srgbClr val="45535F"/>
      </a:accent4>
      <a:accent5>
        <a:srgbClr val="9BABBA"/>
      </a:accent5>
      <a:accent6>
        <a:srgbClr val="E1E6EA"/>
      </a:accent6>
      <a:hlink>
        <a:srgbClr val="2E8FC0"/>
      </a:hlink>
      <a:folHlink>
        <a:srgbClr val="45535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247</Words>
  <Application>Microsoft Office PowerPoint</Application>
  <PresentationFormat>Widescreen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Ka-band beamforming IC for LEO user terminals</vt:lpstr>
      <vt:lpstr>Architecture</vt:lpstr>
      <vt:lpstr>Design objectives</vt:lpstr>
      <vt:lpstr>Silicon vs. antenna: split of responsibilities</vt:lpstr>
      <vt:lpstr>Chip micrograph and layout</vt:lpstr>
      <vt:lpstr>Measured performance</vt:lpstr>
      <vt:lpstr>Gain vs. frequency — four channels</vt:lpstr>
      <vt:lpstr>Thank you — questions?</vt:lpstr>
    </vt:vector>
  </TitlesOfParts>
  <Company>ANTECNICA S.r.l.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ANTECNICA template 2026</dc:title>
  <dc:subject>PptxGenJS Presentation</dc:subject>
  <dc:creator>ANTECNICA</dc:creator>
  <cp:lastModifiedBy>Luigi Boccia</cp:lastModifiedBy>
  <cp:revision>2</cp:revision>
  <dcterms:created xsi:type="dcterms:W3CDTF">2026-09-03T08:58:45Z</dcterms:created>
  <dcterms:modified xsi:type="dcterms:W3CDTF">2026-09-03T09:06:25Z</dcterms:modified>
</cp:coreProperties>
</file>